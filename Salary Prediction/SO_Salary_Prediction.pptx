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5F7FA"/>
                </a:solidFill>
                <a:latin typeface="Arial"/>
              </a:rPr>
              <a:t>Salary Buckets (USD) — illustrative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0-20K</c:v>
                  </c:pt>
                  <c:pt idx="1">
                    <c:v>20-40K</c:v>
                  </c:pt>
                  <c:pt idx="2">
                    <c:v>40-60K</c:v>
                  </c:pt>
                  <c:pt idx="3">
                    <c:v>60-80K</c:v>
                  </c:pt>
                  <c:pt idx="4">
                    <c:v>80-100K</c:v>
                  </c:pt>
                  <c:pt idx="5">
                    <c:v>100-130K</c:v>
                  </c:pt>
                  <c:pt idx="6">
                    <c:v>130-170K</c:v>
                  </c:pt>
                  <c:pt idx="7">
                    <c:v>170-220K</c:v>
                  </c:pt>
                  <c:pt idx="8">
                    <c:v>220K+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1200</c:v>
                </c:pt>
                <c:pt idx="1">
                  <c:v>4200</c:v>
                </c:pt>
                <c:pt idx="2">
                  <c:v>8600</c:v>
                </c:pt>
                <c:pt idx="3">
                  <c:v>11200</c:v>
                </c:pt>
                <c:pt idx="4">
                  <c:v>9800</c:v>
                </c:pt>
                <c:pt idx="5">
                  <c:v>7400</c:v>
                </c:pt>
                <c:pt idx="6">
                  <c:v>4100</c:v>
                </c:pt>
                <c:pt idx="7">
                  <c:v>1800</c:v>
                </c:pt>
                <c:pt idx="8">
                  <c:v>700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526"/>
        </a:solidFill>
        <a:ln>
          <a:noFill/>
        </a:ln>
        <a:effectLst/>
      </c:spPr>
    </c:plotArea>
    <c:plotVisOnly val="1"/>
    <c:dispBlanksAs val="span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5F7FA"/>
                </a:solidFill>
                <a:latin typeface="Arial"/>
              </a:rPr>
              <a:t>Median Salary — Top Countries (illustrative)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Salary (USD)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USA</c:v>
                  </c:pt>
                  <c:pt idx="1">
                    <c:v>Switzerland</c:v>
                  </c:pt>
                  <c:pt idx="2">
                    <c:v>Germany</c:v>
                  </c:pt>
                  <c:pt idx="3">
                    <c:v>UK</c:v>
                  </c:pt>
                  <c:pt idx="4">
                    <c:v>Canada</c:v>
                  </c:pt>
                  <c:pt idx="5">
                    <c:v>India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145000</c:v>
                </c:pt>
                <c:pt idx="1">
                  <c:v>138000</c:v>
                </c:pt>
                <c:pt idx="2">
                  <c:v>78000</c:v>
                </c:pt>
                <c:pt idx="3">
                  <c:v>68000</c:v>
                </c:pt>
                <c:pt idx="4">
                  <c:v>65000</c:v>
                </c:pt>
                <c:pt idx="5">
                  <c:v>21000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526"/>
        </a:solidFill>
        <a:ln>
          <a:noFill/>
        </a:ln>
        <a:effectLst/>
      </c:spPr>
    </c:plotArea>
    <c:plotVisOnly val="1"/>
    <c:dispBlanksAs val="span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5F7FA"/>
                </a:solidFill>
                <a:latin typeface="Arial"/>
              </a:rPr>
              <a:t>Salary vs Years of Pro Experience (illustrative)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 (USD)</c:v>
                </c:pt>
              </c:strCache>
            </c:strRef>
          </c:tx>
          <c:spPr>
            <a:solidFill>
              <a:srgbClr val="00E5FF"/>
            </a:solidFill>
            <a:ln w="38100" cap="flat">
              <a:solidFill>
                <a:srgbClr val="00E5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0E5FF"/>
              </a:solidFill>
              <a:ln w="9525" cap="flat">
                <a:solidFill>
                  <a:srgbClr val="00E5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2</c:v>
                  </c:pt>
                  <c:pt idx="2">
                    <c:v>5</c:v>
                  </c:pt>
                  <c:pt idx="3">
                    <c:v>8</c:v>
                  </c:pt>
                  <c:pt idx="4">
                    <c:v>12</c:v>
                  </c:pt>
                  <c:pt idx="5">
                    <c:v>16</c:v>
                  </c:pt>
                  <c:pt idx="6">
                    <c:v>20</c:v>
                  </c:pt>
                  <c:pt idx="7">
                    <c:v>25</c:v>
                  </c:pt>
                  <c:pt idx="8">
                    <c:v>30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28000</c:v>
                </c:pt>
                <c:pt idx="1">
                  <c:v>42000</c:v>
                </c:pt>
                <c:pt idx="2">
                  <c:v>61000</c:v>
                </c:pt>
                <c:pt idx="3">
                  <c:v>78000</c:v>
                </c:pt>
                <c:pt idx="4">
                  <c:v>92000</c:v>
                </c:pt>
                <c:pt idx="5">
                  <c:v>101000</c:v>
                </c:pt>
                <c:pt idx="6">
                  <c:v>108000</c:v>
                </c:pt>
                <c:pt idx="7">
                  <c:v>112000</c:v>
                </c:pt>
                <c:pt idx="8">
                  <c:v>115000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526"/>
        </a:solidFill>
        <a:ln>
          <a:noFill/>
        </a:ln>
        <a:effectLst/>
      </c:spPr>
    </c:plotArea>
    <c:plotVisOnly val="1"/>
    <c:dispBlanksAs val="span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5F7FA"/>
                </a:solidFill>
                <a:latin typeface="Arial"/>
              </a:rPr>
              <a:t>RMSE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(USD)</c:v>
                </c:pt>
              </c:strCache>
            </c:strRef>
          </c:tx>
          <c:spPr>
            <a:solidFill>
              <a:srgbClr val="FF3D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28000</c:v>
                </c:pt>
                <c:pt idx="1">
                  <c:v>19500</c:v>
                </c:pt>
                <c:pt idx="2">
                  <c:v>18200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526"/>
        </a:solidFill>
        <a:ln>
          <a:noFill/>
        </a:ln>
        <a:effectLst/>
      </c:spPr>
    </c:plotArea>
    <c:plotVisOnly val="1"/>
    <c:dispBlanksAs val="span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5F7FA"/>
                </a:solidFill>
                <a:latin typeface="Arial"/>
              </a:rPr>
              <a:t>R² Score —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0.52</c:v>
                </c:pt>
                <c:pt idx="1">
                  <c:v>0.71</c:v>
                </c:pt>
                <c:pt idx="2">
                  <c:v>0.74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526"/>
        </a:solidFill>
        <a:ln>
          <a:noFill/>
        </a:ln>
        <a:effectLst/>
      </c:spPr>
    </c:plotArea>
    <c:plotVisOnly val="1"/>
    <c:dispBlanksAs val="span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Platform_AWS</c:v>
                  </c:pt>
                  <c:pt idx="1">
                    <c:v>Age</c:v>
                  </c:pt>
                  <c:pt idx="2">
                    <c:v>Lang_Python</c:v>
                  </c:pt>
                  <c:pt idx="3">
                    <c:v>RemoteWork</c:v>
                  </c:pt>
                  <c:pt idx="4">
                    <c:v>EdLevel</c:v>
                  </c:pt>
                  <c:pt idx="5">
                    <c:v>DevType</c:v>
                  </c:pt>
                  <c:pt idx="6">
                    <c:v>YearsCodePro</c:v>
                  </c:pt>
                  <c:pt idx="7">
                    <c:v>Country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0.04</c:v>
                </c:pt>
                <c:pt idx="1">
                  <c:v>0.05</c:v>
                </c:pt>
                <c:pt idx="2">
                  <c:v>0.06</c:v>
                </c:pt>
                <c:pt idx="3">
                  <c:v>0.07</c:v>
                </c:pt>
                <c:pt idx="4">
                  <c:v>0.09</c:v>
                </c:pt>
                <c:pt idx="5">
                  <c:v>0.13</c:v>
                </c:pt>
                <c:pt idx="6">
                  <c:v>0.22</c:v>
                </c:pt>
                <c:pt idx="7">
                  <c:v>0.34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F7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1C27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526"/>
        </a:solidFill>
        <a:ln>
          <a:noFill/>
        </a:ln>
        <a:effectLst/>
      </c:spPr>
    </c:plotArea>
    <c:plotVisOnly val="1"/>
    <c:dispBlanksAs val="span"/>
  </c:chart>
  <c:spPr>
    <a:solidFill>
      <a:srgbClr val="0D15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PROJECT  •  DATA SCIENCE &amp; MACHINE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PREDICTION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2011680" cy="0"/>
          </a:xfrm>
          <a:prstGeom prst="line">
            <a:avLst/>
          </a:prstGeom>
          <a:noFill/>
          <a:ln w="3175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developer compensation from real-world survey data using regression modeling, feature engineering, and ensemble learning.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532120"/>
            <a:ext cx="2514600" cy="777240"/>
          </a:xfrm>
          <a:prstGeom prst="rect">
            <a:avLst>
              <a:gd name="adj" fmla="val 7059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56235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Survey 2024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5532120"/>
            <a:ext cx="2514600" cy="777240"/>
          </a:xfrm>
          <a:prstGeom prst="rect">
            <a:avLst>
              <a:gd name="adj" fmla="val 7059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56235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8503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65,438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5532120"/>
            <a:ext cx="2514600" cy="777240"/>
          </a:xfrm>
          <a:prstGeom prst="rect">
            <a:avLst>
              <a:gd name="adj" fmla="val 7059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56235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8251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+ Random Forest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0" y="5532120"/>
            <a:ext cx="2514600" cy="777240"/>
          </a:xfrm>
          <a:prstGeom prst="rect">
            <a:avLst>
              <a:gd name="adj" fmla="val 7059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9992" y="56235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79992" y="587959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Colab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1215" y="457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Ehtheshaam Ulhaq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salaries vary wildly by country, experience, and tech stack. The goal: build a regression model that predicts a developer's annual compensation from their profile — and surface which factors actually drive pay.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943600" cy="3063240"/>
          </a:xfrm>
          <a:prstGeom prst="roundRect">
            <a:avLst>
              <a:gd name="adj" fmla="val 2388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2918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 →  OUTPUT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76472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Age, Education Level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6052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4087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Professional Experience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4456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44714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Role (DevType)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92861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8554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Languages, DBs, Platforms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868680" y="5394960"/>
            <a:ext cx="5349240" cy="0"/>
          </a:xfrm>
          <a:prstGeom prst="line">
            <a:avLst/>
          </a:prstGeom>
          <a:noFill/>
          <a:ln w="12700">
            <a:solidFill>
              <a:srgbClr val="1C274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5040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70432" y="55138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Annual Salary (ConvertedCompYearly, in USD)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6858000" y="306324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3383280"/>
            <a:ext cx="457200" cy="4572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7804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7178040" y="42702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Regression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7178040" y="489204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is continuous (a dollar amount), not a category — so this is regression, not classification.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992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1945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65,438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49808" y="27157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Survey Responses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55848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70992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7016" y="21945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 → 11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3557016" y="27157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Used (post-selection)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63056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70992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64224" y="21945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170+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364224" y="27157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970264" y="15087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170992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71432" y="2194560"/>
            <a:ext cx="2203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~60–70%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9171432" y="2715768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in Target Column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COLUMNS RETAINED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3904488"/>
            <a:ext cx="5394960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" y="3904488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3515868" y="3904488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(170+ values)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343400"/>
            <a:ext cx="5394960" cy="365760"/>
          </a:xfrm>
          <a:prstGeom prst="rect">
            <a:avLst/>
          </a:prstGeom>
          <a:solidFill>
            <a:srgbClr val="0A1122"/>
          </a:solidFill>
          <a:ln/>
        </p:spPr>
      </p:sp>
      <p:sp>
        <p:nvSpPr>
          <p:cNvPr id="25" name="Text 19"/>
          <p:cNvSpPr/>
          <p:nvPr/>
        </p:nvSpPr>
        <p:spPr>
          <a:xfrm>
            <a:off x="685800" y="4343400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/ EdLevel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3515868" y="4343400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4782312"/>
            <a:ext cx="5394960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28" name="Text 22"/>
          <p:cNvSpPr/>
          <p:nvPr/>
        </p:nvSpPr>
        <p:spPr>
          <a:xfrm>
            <a:off x="685800" y="4782312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YearsCodePro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3515868" y="47823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(text-cleaned)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8640" y="5221224"/>
            <a:ext cx="5394960" cy="365760"/>
          </a:xfrm>
          <a:prstGeom prst="rect">
            <a:avLst/>
          </a:prstGeom>
          <a:solidFill>
            <a:srgbClr val="0A1122"/>
          </a:solidFill>
          <a:ln/>
        </p:spPr>
      </p:sp>
      <p:sp>
        <p:nvSpPr>
          <p:cNvPr id="31" name="Text 25"/>
          <p:cNvSpPr/>
          <p:nvPr/>
        </p:nvSpPr>
        <p:spPr>
          <a:xfrm>
            <a:off x="685800" y="5221224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DevType / RemoteWork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3515868" y="5221224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172200" y="3904488"/>
            <a:ext cx="5394960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34" name="Text 28"/>
          <p:cNvSpPr/>
          <p:nvPr/>
        </p:nvSpPr>
        <p:spPr>
          <a:xfrm>
            <a:off x="6309360" y="3904488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LanguageHaveWorkedWith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139428" y="3904488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text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6172200" y="4343400"/>
            <a:ext cx="5394960" cy="365760"/>
          </a:xfrm>
          <a:prstGeom prst="rect">
            <a:avLst/>
          </a:prstGeom>
          <a:solidFill>
            <a:srgbClr val="0A1122"/>
          </a:solidFill>
          <a:ln/>
        </p:spPr>
      </p:sp>
      <p:sp>
        <p:nvSpPr>
          <p:cNvPr id="37" name="Text 31"/>
          <p:cNvSpPr/>
          <p:nvPr/>
        </p:nvSpPr>
        <p:spPr>
          <a:xfrm>
            <a:off x="6309360" y="4343400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DatabaseHaveWorkedWith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9139428" y="4343400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text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6172200" y="4782312"/>
            <a:ext cx="5394960" cy="36576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0" name="Text 34"/>
          <p:cNvSpPr/>
          <p:nvPr/>
        </p:nvSpPr>
        <p:spPr>
          <a:xfrm>
            <a:off x="6309360" y="4782312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PlatformHaveWorkedWith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9139428" y="47823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text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172200" y="5221224"/>
            <a:ext cx="5394960" cy="365760"/>
          </a:xfrm>
          <a:prstGeom prst="rect">
            <a:avLst/>
          </a:prstGeom>
          <a:solidFill>
            <a:srgbClr val="0A1122"/>
          </a:solidFill>
          <a:ln/>
        </p:spPr>
      </p:sp>
      <p:sp>
        <p:nvSpPr>
          <p:cNvPr id="43" name="Text 37"/>
          <p:cNvSpPr/>
          <p:nvPr/>
        </p:nvSpPr>
        <p:spPr>
          <a:xfrm>
            <a:off x="6309360" y="5221224"/>
            <a:ext cx="2967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ConvertedCompYearly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9139428" y="5221224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(USD, numeric)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TOOLS &amp; LIBRARIES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70832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783080"/>
            <a:ext cx="548640" cy="5486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9202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93024" y="155448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1624" y="1783080"/>
            <a:ext cx="548640" cy="5486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9202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/ Seaborn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21624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547872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76472"/>
            <a:ext cx="548640" cy="5486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1363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828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models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70832" y="3547872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3776472"/>
            <a:ext cx="548640" cy="5486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91363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/ XGBoost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4828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modeling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93024" y="3547872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21624" y="3776472"/>
            <a:ext cx="548640" cy="54864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391363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21624" y="4462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21624" y="4828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environment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1064240" cy="0"/>
          </a:xfrm>
          <a:prstGeom prst="line">
            <a:avLst/>
          </a:prstGeom>
          <a:noFill/>
          <a:ln w="25400">
            <a:solidFill>
              <a:srgbClr val="1C274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037844" y="2194560"/>
            <a:ext cx="1005840" cy="1005840"/>
          </a:xfrm>
          <a:prstGeom prst="ellipse">
            <a:avLst/>
          </a:prstGeom>
          <a:solidFill>
            <a:srgbClr val="0D1526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5FF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247802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94460" y="19385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139446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86200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null salaries, cap outliers, parse YearsCodePro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50692" y="2194560"/>
            <a:ext cx="1005840" cy="1005840"/>
          </a:xfrm>
          <a:prstGeom prst="ellipse">
            <a:avLst/>
          </a:prstGeom>
          <a:solidFill>
            <a:srgbClr val="0D1526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5FF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2478024"/>
            <a:ext cx="438912" cy="4389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607308" y="19385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0"/>
          <p:cNvSpPr/>
          <p:nvPr/>
        </p:nvSpPr>
        <p:spPr>
          <a:xfrm>
            <a:off x="3607308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70048" y="33832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15768" y="3886200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multi-select tech stack, one-hot categoricals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63540" y="2194560"/>
            <a:ext cx="1005840" cy="1005840"/>
          </a:xfrm>
          <a:prstGeom prst="ellipse">
            <a:avLst/>
          </a:prstGeom>
          <a:solidFill>
            <a:srgbClr val="0D1526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5FF">
                <a:alpha val="3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004" y="2478024"/>
            <a:ext cx="438912" cy="4389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20156" y="19385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5"/>
          <p:cNvSpPr/>
          <p:nvPr/>
        </p:nvSpPr>
        <p:spPr>
          <a:xfrm>
            <a:off x="5820156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82896" y="33832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28616" y="3886200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country &amp; experience trends, correlations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676388" y="2194560"/>
            <a:ext cx="1005840" cy="1005840"/>
          </a:xfrm>
          <a:prstGeom prst="ellipse">
            <a:avLst/>
          </a:prstGeom>
          <a:solidFill>
            <a:srgbClr val="0D1526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5FF">
                <a:alpha val="3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852" y="2478024"/>
            <a:ext cx="438912" cy="43891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033004" y="19385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0"/>
          <p:cNvSpPr/>
          <p:nvPr/>
        </p:nvSpPr>
        <p:spPr>
          <a:xfrm>
            <a:off x="8033004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095744" y="33832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141464" y="3886200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baseline → Random Forest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889236" y="2194560"/>
            <a:ext cx="1005840" cy="1005840"/>
          </a:xfrm>
          <a:prstGeom prst="ellipse">
            <a:avLst/>
          </a:prstGeom>
          <a:solidFill>
            <a:srgbClr val="0D1526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5FF">
                <a:alpha val="35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700" y="2478024"/>
            <a:ext cx="438912" cy="43891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245852" y="1938528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25"/>
          <p:cNvSpPr/>
          <p:nvPr/>
        </p:nvSpPr>
        <p:spPr>
          <a:xfrm>
            <a:off x="10245852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308592" y="3383280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354312" y="3886200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 comparison + feature importance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are right-skewed: most developers cluster in the $30K–$120K range, with a long tail of high earners pulling the mean above the median.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816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distribution → log-transform considered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3756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273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capped between $1K–$500K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37307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well below mean due to high earners</a:t>
            </a:r>
            <a:endParaRPr lang="en-US" sz="11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74920" y="1417320"/>
          <a:ext cx="65379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by Country &amp; Experience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4864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417320"/>
          <a:ext cx="5349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Messy Text Into Model-Ready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3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COLUMN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LanguageHaveWorkedWith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572000" cy="548640"/>
          </a:xfrm>
          <a:prstGeom prst="rect">
            <a:avLst/>
          </a:prstGeom>
          <a:solidFill>
            <a:srgbClr val="0A1122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231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"Python;JavaScript;SQL"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text cell holding multiple values — unusable for a model as-is.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53328" y="2258568"/>
            <a:ext cx="512064" cy="512064"/>
          </a:xfrm>
          <a:prstGeom prst="ellipse">
            <a:avLst/>
          </a:prstGeom>
          <a:solidFill>
            <a:srgbClr val="111B33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2258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BINARY-ENCODED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2057400"/>
            <a:ext cx="2148840" cy="502920"/>
          </a:xfrm>
          <a:prstGeom prst="rect">
            <a:avLst/>
          </a:prstGeom>
          <a:solidFill>
            <a:srgbClr val="0D2E2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Lang_Python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2057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2057400"/>
            <a:ext cx="2148840" cy="502920"/>
          </a:xfrm>
          <a:prstGeom prst="rect">
            <a:avLst/>
          </a:prstGeom>
          <a:solidFill>
            <a:srgbClr val="0D2E2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057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Lang_JavaScript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652760" y="20574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2697480"/>
            <a:ext cx="2148840" cy="502920"/>
          </a:xfrm>
          <a:prstGeom prst="rect">
            <a:avLst/>
          </a:prstGeom>
          <a:solidFill>
            <a:srgbClr val="0D2E2E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Lang_SQL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7532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52560" y="2697480"/>
            <a:ext cx="2148840" cy="502920"/>
          </a:xfrm>
          <a:prstGeom prst="rect">
            <a:avLst/>
          </a:prstGeom>
          <a:solidFill>
            <a:srgbClr val="0A1122"/>
          </a:solidFill>
          <a:ln w="12700">
            <a:solidFill>
              <a:srgbClr val="1C27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Lang_Java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5276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931920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49808" y="43159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Top-N binarization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49808" y="46451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top 8-10 most common languages/DBs/platforms kept, rest dropped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89120" y="37490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3931920"/>
            <a:ext cx="292608" cy="29260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4590288" y="43159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High-cardinality Country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4590288" y="46451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countries kept, rest grouped as 'Other'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8229600" y="374904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3931920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430768" y="4315968"/>
            <a:ext cx="3209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get_dummies() encoding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8430768" y="464515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categoricals (Age, EdLevel, DevType) one-hot encoded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1463040" cy="292608"/>
          </a:xfrm>
          <a:prstGeom prst="rect">
            <a:avLst>
              <a:gd name="adj" fmla="val 9375"/>
            </a:avLst>
          </a:prstGeom>
          <a:solidFill>
            <a:srgbClr val="111B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97380" y="2377440"/>
            <a:ext cx="914400" cy="914400"/>
          </a:xfrm>
          <a:prstGeom prst="ellipse">
            <a:avLst/>
          </a:prstGeom>
          <a:solidFill>
            <a:srgbClr val="111B33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5FF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412" y="26334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520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salary is a weighted sum of features. Fast, interpretable — sets the bar every other model must beat.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1688" y="155448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1828800"/>
            <a:ext cx="1463040" cy="292608"/>
          </a:xfrm>
          <a:prstGeom prst="rect">
            <a:avLst>
              <a:gd name="adj" fmla="val 9375"/>
            </a:avLst>
          </a:prstGeom>
          <a:solidFill>
            <a:srgbClr val="111B33"/>
          </a:solidFill>
          <a:ln/>
        </p:spPr>
      </p:sp>
      <p:sp>
        <p:nvSpPr>
          <p:cNvPr id="13" name="Text 10"/>
          <p:cNvSpPr/>
          <p:nvPr/>
        </p:nvSpPr>
        <p:spPr>
          <a:xfrm>
            <a:off x="4636008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MODEL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10428" y="2377440"/>
            <a:ext cx="914400" cy="914400"/>
          </a:xfrm>
          <a:prstGeom prst="ellipse">
            <a:avLst/>
          </a:prstGeom>
          <a:solidFill>
            <a:srgbClr val="111B33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50800" dir="16200000">
              <a:srgbClr val="8B5CF6">
                <a:alpha val="3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6334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0288" y="3520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Regressor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36008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decision trees averaged together. Captures non-linear relationships and gives feature importance for free.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74736" y="155448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49056" y="1828800"/>
            <a:ext cx="1463040" cy="292608"/>
          </a:xfrm>
          <a:prstGeom prst="rect">
            <a:avLst>
              <a:gd name="adj" fmla="val 9375"/>
            </a:avLst>
          </a:prstGeom>
          <a:solidFill>
            <a:srgbClr val="111B33"/>
          </a:solidFill>
          <a:ln/>
        </p:spPr>
      </p:sp>
      <p:sp>
        <p:nvSpPr>
          <p:cNvPr id="20" name="Text 16"/>
          <p:cNvSpPr/>
          <p:nvPr/>
        </p:nvSpPr>
        <p:spPr>
          <a:xfrm>
            <a:off x="8449056" y="18288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3D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GOAL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9523476" y="2377440"/>
            <a:ext cx="914400" cy="914400"/>
          </a:xfrm>
          <a:prstGeom prst="ellipse">
            <a:avLst/>
          </a:prstGeom>
          <a:solidFill>
            <a:srgbClr val="111B33"/>
          </a:solidFill>
          <a:ln w="19050">
            <a:solidFill>
              <a:srgbClr val="FF3DAA"/>
            </a:solidFill>
            <a:prstDash val="solid"/>
          </a:ln>
          <a:effectLst>
            <a:outerShdw sx="100000" sy="100000" kx="0" ky="0" algn="bl" rotWithShape="0" blurRad="177800" dist="50800" dir="16200000">
              <a:srgbClr val="FF3DAA">
                <a:alpha val="3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508" y="263347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03336" y="3520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Regressor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49056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boosted trees, each correcting the last. Industry-standard for tabular data — optional upgrade.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metrics shown below — replace with your actual notebook output after training.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17920" y="16459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MODEL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Drives Salary?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from the Random Forest model — example values, regenerate from your run.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dominates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was the single strongest predictor — larger effect than any individual tech skill.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810512"/>
            <a:ext cx="502920" cy="50292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93852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830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compounds, then plateaus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7960" y="24688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rises steadily with YearsCodePro, flattening after ~15-20 years.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050792"/>
            <a:ext cx="502920" cy="50292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17880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23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 beat linear models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cut RMSE by ~30% over the Linear Regression baseline.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794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4050792"/>
            <a:ext cx="502920" cy="502920"/>
          </a:xfrm>
          <a:prstGeom prst="ellipse">
            <a:avLst/>
          </a:prstGeom>
          <a:solidFill>
            <a:srgbClr val="111B33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178808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23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 is messy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7960" y="47091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Multi-select fields and high-cardinality categoricals required real feature engineering, not just df.dropna().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SO-SALARY-ML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0E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Salary Prediction — a Data Science / ML portfolio project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0D1526"/>
          </a:solidFill>
          <a:ln w="12700">
            <a:solidFill>
              <a:srgbClr val="1C27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98678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7947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github.com/&lt;your-username&gt;/so-salary-prediction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Ehtheshaam Ulhaq   ·   Final-Year B.Tech CSE   ·   Aspiring Data Engineer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Overflow Salary Prediction</dc:title>
  <dc:subject>PptxGenJS Presentation</dc:subject>
  <dc:creator>Shaik Ehtheshaam Ulhaq</dc:creator>
  <cp:lastModifiedBy>Shaik Ehtheshaam Ulhaq</cp:lastModifiedBy>
  <cp:revision>1</cp:revision>
  <dcterms:created xsi:type="dcterms:W3CDTF">2026-07-03T02:20:53Z</dcterms:created>
  <dcterms:modified xsi:type="dcterms:W3CDTF">2026-07-03T02:20:53Z</dcterms:modified>
</cp:coreProperties>
</file>