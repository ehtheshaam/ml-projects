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embeddedFontLst>
    <p:embeddedFont>
      <p:font typeface="DM Sans Thin"/>
      <p:regular r:id="rId201314"/>
    </p:embeddedFont>
    <p:embeddedFont>
      <p:font typeface="DM Sans ExtraLight"/>
      <p:regular r:id="rId201315"/>
    </p:embeddedFont>
    <p:embeddedFont>
      <p:font typeface="DM Sans Light"/>
      <p:regular r:id="rId201316"/>
    </p:embeddedFont>
    <p:embeddedFont>
      <p:font typeface="DM Sans"/>
      <p:regular r:id="rId201317"/>
    </p:embeddedFont>
    <p:embeddedFont>
      <p:font typeface="DM Sans Medium"/>
      <p:regular r:id="rId201318"/>
    </p:embeddedFont>
    <p:embeddedFont>
      <p:font typeface="DM Sans SemiBold"/>
      <p:regular r:id="rId201319"/>
    </p:embeddedFont>
    <p:embeddedFont>
      <p:font typeface="DM Sans Bold"/>
      <p:regular r:id="rId201320"/>
    </p:embeddedFont>
    <p:embeddedFont>
      <p:font typeface="DM Sans ExtraBold"/>
      <p:regular r:id="rId201321"/>
    </p:embeddedFont>
    <p:embeddedFont>
      <p:font typeface="DM Sans Black"/>
      <p:regular r:id="rId20132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4.png"/><Relationship Id="rId5" Type="http://schemas.openxmlformats.org/officeDocument/2006/relationships/image" Target="../media/image-5-5.svg"/><Relationship Id="rId6" Type="http://schemas.openxmlformats.org/officeDocument/2006/relationships/image" Target="../media/image-5-6.png"/><Relationship Id="rId7" Type="http://schemas.openxmlformats.org/officeDocument/2006/relationships/image" Target="../media/image-5-7.svg"/><Relationship Id="rId8" Type="http://schemas.openxmlformats.org/officeDocument/2006/relationships/image" Target="../media/image-5-8.png"/><Relationship Id="rId9" Type="http://schemas.openxmlformats.org/officeDocument/2006/relationships/image" Target="../media/image-5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923455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HealthConnect AI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423145"/>
            <a:ext cx="4722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Explainable Disease Prediction Using Machine Learning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2857202"/>
            <a:ext cx="4722763" cy="3628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Premium, transparent AI for faster clinical decision support — built for clinicians, product teams, and investors.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055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Dataset Snapshot &amp; Core Challenges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623268"/>
            <a:ext cx="3902943" cy="22116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749701" y="1208112"/>
            <a:ext cx="1880592" cy="1563514"/>
          </a:xfrm>
          <a:prstGeom prst="roundRect">
            <a:avLst>
              <a:gd name="adj" fmla="val 8161"/>
            </a:avLst>
          </a:prstGeom>
          <a:solidFill>
            <a:srgbClr val="FFCCD1"/>
          </a:solidFill>
          <a:ln w="4763">
            <a:solidFill>
              <a:srgbClr val="E5B2B7"/>
            </a:solidFill>
            <a:prstDash val="solid"/>
          </a:ln>
          <a:effectLst>
            <a:outerShdw sx="100000" sy="100000" kx="0" ky="0" algn="bl" rotWithShape="0" blurRad="101600" dist="17780" dir="2700000">
              <a:srgbClr val="e5b2b7">
                <a:alpha val="10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4896222" y="1354634"/>
            <a:ext cx="158755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Scale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896222" y="1717849"/>
            <a:ext cx="158755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246,945 patient records · 377 symptom features · 773 disease labels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772052" y="1208112"/>
            <a:ext cx="1880592" cy="1563514"/>
          </a:xfrm>
          <a:prstGeom prst="roundRect">
            <a:avLst>
              <a:gd name="adj" fmla="val 8161"/>
            </a:avLst>
          </a:prstGeom>
          <a:solidFill>
            <a:srgbClr val="FFCCD1"/>
          </a:solidFill>
          <a:ln w="4763">
            <a:solidFill>
              <a:srgbClr val="E5B2B7"/>
            </a:solidFill>
            <a:prstDash val="solid"/>
          </a:ln>
          <a:effectLst>
            <a:outerShdw sx="100000" sy="100000" kx="0" ky="0" algn="bl" rotWithShape="0" blurRad="101600" dist="17780" dir="2700000">
              <a:srgbClr val="e5b2b7">
                <a:alpha val="10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918573" y="1354634"/>
            <a:ext cx="158755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Representation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918573" y="1717849"/>
            <a:ext cx="1587550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Binary symptom matrix — sparse, high-dimensional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49701" y="2913385"/>
            <a:ext cx="1880592" cy="1336700"/>
          </a:xfrm>
          <a:prstGeom prst="roundRect">
            <a:avLst>
              <a:gd name="adj" fmla="val 9545"/>
            </a:avLst>
          </a:prstGeom>
          <a:solidFill>
            <a:srgbClr val="FFCCD1"/>
          </a:solidFill>
          <a:ln w="4763">
            <a:solidFill>
              <a:srgbClr val="E5B2B7"/>
            </a:solidFill>
            <a:prstDash val="solid"/>
          </a:ln>
          <a:effectLst>
            <a:outerShdw sx="100000" sy="100000" kx="0" ky="0" algn="bl" rotWithShape="0" blurRad="101600" dist="17780" dir="2700000">
              <a:srgbClr val="e5b2b7">
                <a:alpha val="10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896222" y="3059906"/>
            <a:ext cx="158755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Class Imbalance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896222" y="3423121"/>
            <a:ext cx="158755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Many diseases are rare or under‑represented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772052" y="2913385"/>
            <a:ext cx="1880592" cy="1336700"/>
          </a:xfrm>
          <a:prstGeom prst="roundRect">
            <a:avLst>
              <a:gd name="adj" fmla="val 9545"/>
            </a:avLst>
          </a:prstGeom>
          <a:solidFill>
            <a:srgbClr val="FFCCD1"/>
          </a:solidFill>
          <a:ln w="4763">
            <a:solidFill>
              <a:srgbClr val="E5B2B7"/>
            </a:solidFill>
            <a:prstDash val="solid"/>
          </a:ln>
          <a:effectLst>
            <a:outerShdw sx="100000" sy="100000" kx="0" ky="0" algn="bl" rotWithShape="0" blurRad="101600" dist="17780" dir="2700000">
              <a:srgbClr val="e5b2b7">
                <a:alpha val="10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918573" y="3059906"/>
            <a:ext cx="158755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Resource Limits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6918573" y="3423121"/>
            <a:ext cx="1587550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Training within Google Colab memory and compute constraints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96119" y="4569023"/>
            <a:ext cx="8608963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Visual-first summary for technical reviewers and investors — numbers drive design choices.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0823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Machine Learning Pipeline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9679" y="995437"/>
            <a:ext cx="8084567" cy="34862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73714" y="3820543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Label Encoding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073714" y="3013538"/>
            <a:ext cx="1970767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Remove Rare Diseases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073714" y="2214685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Memory Opt (int8)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73714" y="1407680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Raw Dataset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96119" y="4603700"/>
            <a:ext cx="8608963" cy="148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Each node includes lightweight memory optimizations and checkpoints to enable reproducible training on constrained compute.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52512"/>
            <a:ext cx="8151763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Why Random Forest?</a:t>
            </a:r>
            <a:endParaRPr lang="en-US" sz="2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2004045"/>
            <a:ext cx="3066157" cy="17374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891186" y="1194792"/>
            <a:ext cx="4761384" cy="2307431"/>
          </a:xfrm>
          <a:prstGeom prst="roundRect">
            <a:avLst>
              <a:gd name="adj" fmla="val 5184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891186" y="1772841"/>
            <a:ext cx="4761384" cy="830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3891186" y="2760464"/>
            <a:ext cx="4761384" cy="830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3891186" y="3130153"/>
            <a:ext cx="4761384" cy="830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4029001" y="1279029"/>
            <a:ext cx="1616943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4A4A4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Model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454551" y="1279029"/>
            <a:ext cx="589508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4A4A4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Accuracy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309866" y="1279029"/>
            <a:ext cx="1046708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4A4A4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Speed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165181" y="1279029"/>
            <a:ext cx="999158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4A4A4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Memory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972946" y="1279029"/>
            <a:ext cx="541958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4A4A4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Multiclass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029001" y="1854696"/>
            <a:ext cx="1616943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Random Forest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454551" y="1854696"/>
            <a:ext cx="1046708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309866" y="1854696"/>
            <a:ext cx="589508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Moderate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165181" y="1854696"/>
            <a:ext cx="541958" cy="823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Moderate (quantizable)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972946" y="1854696"/>
            <a:ext cx="999158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Strong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029001" y="2842320"/>
            <a:ext cx="1616943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XGBoost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454551" y="2842320"/>
            <a:ext cx="1046708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Very High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309866" y="2842320"/>
            <a:ext cx="1046708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Slower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7165181" y="2842320"/>
            <a:ext cx="999158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Higher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7972946" y="2842320"/>
            <a:ext cx="999158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Strong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029001" y="3212009"/>
            <a:ext cx="1616943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Decision Tree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454551" y="3212009"/>
            <a:ext cx="1046708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Lower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309866" y="3212009"/>
            <a:ext cx="1046708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Fast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7165181" y="3212009"/>
            <a:ext cx="999158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Low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7972946" y="3212009"/>
            <a:ext cx="999158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Limited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3891186" y="3642345"/>
            <a:ext cx="4761384" cy="908447"/>
          </a:xfrm>
          <a:prstGeom prst="roundRect">
            <a:avLst>
              <a:gd name="adj" fmla="val 13167"/>
            </a:avLst>
          </a:prstGeom>
          <a:solidFill>
            <a:srgbClr val="FFCCD1"/>
          </a:solidFill>
          <a:ln/>
        </p:spPr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4089" y="3839766"/>
            <a:ext cx="166092" cy="132904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4323085" y="3787601"/>
            <a:ext cx="4196581" cy="617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Random Forest balances multiclass robustness, interpretability, and quantization-friendly memory footprint — ideal for our sparse, high-class-count dataset.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3445"/>
            <a:ext cx="8151763" cy="325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Not Just Prediction — Explainable Prediction</a:t>
            </a:r>
            <a:endParaRPr lang="en-US" sz="2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609204"/>
            <a:ext cx="4789438" cy="20652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18426" y="3282836"/>
            <a:ext cx="1292388" cy="135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Prediction &amp; Explanation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818426" y="2804755"/>
            <a:ext cx="1086547" cy="135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Random Forest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818426" y="2331504"/>
            <a:ext cx="1086547" cy="135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Feature Importance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818426" y="1853423"/>
            <a:ext cx="1086547" cy="135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Symptoms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496119" y="3760440"/>
            <a:ext cx="4789438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6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 expose the model's reasoning: the top contributing symptoms and their importance scores are presented alongside every prediction.</a:t>
            </a:r>
            <a:endParaRPr lang="en-US" sz="6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4220" y="939403"/>
            <a:ext cx="260226" cy="26022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544220" y="1295177"/>
            <a:ext cx="3108350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Fever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5544220" y="1534269"/>
            <a:ext cx="3108350" cy="288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 importance — strong signal across respiratory and systemic infections</a:t>
            </a:r>
            <a:endParaRPr lang="en-US" sz="8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44220" y="1975991"/>
            <a:ext cx="260226" cy="26022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544220" y="2331765"/>
            <a:ext cx="3108350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Cough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5544220" y="2570857"/>
            <a:ext cx="3108350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Key driver for pulmonary disease predictions</a:t>
            </a:r>
            <a:endParaRPr lang="en-US" sz="8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44220" y="2868141"/>
            <a:ext cx="260226" cy="26022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544220" y="3223915"/>
            <a:ext cx="3108350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Chest Pain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5544220" y="3463007"/>
            <a:ext cx="3108350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Elevated weight for cardiovascular and pulmonary differentials</a:t>
            </a:r>
            <a:endParaRPr lang="en-US" sz="8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44220" y="3760291"/>
            <a:ext cx="260226" cy="26022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544220" y="4116065"/>
            <a:ext cx="3108350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Fatigue</a:t>
            </a:r>
            <a:endParaRPr lang="en-US" sz="1000" dirty="0"/>
          </a:p>
        </p:txBody>
      </p:sp>
      <p:sp>
        <p:nvSpPr>
          <p:cNvPr id="20" name="Text 13"/>
          <p:cNvSpPr/>
          <p:nvPr/>
        </p:nvSpPr>
        <p:spPr>
          <a:xfrm>
            <a:off x="5544220" y="4355157"/>
            <a:ext cx="3108350" cy="288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Broad but informative — increases posterior probability for systemic diseases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2757"/>
            <a:ext cx="8151763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Model Performance — Dashboard</a:t>
            </a:r>
            <a:endParaRPr lang="en-US" sz="2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20341"/>
            <a:ext cx="4342358" cy="24606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4011960"/>
            <a:ext cx="4342358" cy="313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8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Key metrics (example visuals): Accuracy, Precision, Recall, F1 — surfaced for top N diseases and aggregated across classes.</a:t>
            </a:r>
            <a:endParaRPr lang="en-US" sz="800" dirty="0"/>
          </a:p>
        </p:txBody>
      </p:sp>
      <p:sp>
        <p:nvSpPr>
          <p:cNvPr id="5" name="Shape 2"/>
          <p:cNvSpPr/>
          <p:nvPr/>
        </p:nvSpPr>
        <p:spPr>
          <a:xfrm>
            <a:off x="5156671" y="1099765"/>
            <a:ext cx="1689720" cy="1840483"/>
          </a:xfrm>
          <a:prstGeom prst="roundRect">
            <a:avLst>
              <a:gd name="adj" fmla="val 6843"/>
            </a:avLst>
          </a:prstGeom>
          <a:solidFill>
            <a:srgbClr val="FFCCD1"/>
          </a:solidFill>
          <a:ln w="4763">
            <a:solidFill>
              <a:srgbClr val="E5B2B7"/>
            </a:solidFill>
            <a:prstDash val="solid"/>
          </a:ln>
          <a:effectLst>
            <a:outerShdw sx="100000" sy="100000" kx="0" ky="0" algn="bl" rotWithShape="0" blurRad="101600" dist="16510" dir="2700000">
              <a:srgbClr val="e5b2b7">
                <a:alpha val="10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289872" y="1232967"/>
            <a:ext cx="1423318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Metrics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289872" y="1550045"/>
            <a:ext cx="1423318" cy="1257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3200" indent="-203200">
              <a:lnSpc>
                <a:spcPct val="127000"/>
              </a:lnSpc>
              <a:buSzPct val="100000"/>
              <a:buChar char="•"/>
            </a:pPr>
            <a:r>
              <a:rPr lang="en-US" sz="10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Accuracy: (aggregate visual)</a:t>
            </a:r>
            <a:endParaRPr lang="en-US" sz="1000" dirty="0"/>
          </a:p>
          <a:p>
            <a:pPr algn="l" marL="203200" indent="-203200">
              <a:lnSpc>
                <a:spcPct val="127000"/>
              </a:lnSpc>
              <a:buSzPct val="100000"/>
              <a:buChar char="•"/>
            </a:pPr>
            <a:r>
              <a:rPr lang="en-US" sz="10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Precision / Recall: per-class panels</a:t>
            </a:r>
            <a:endParaRPr lang="en-US" sz="1000" dirty="0"/>
          </a:p>
          <a:p>
            <a:pPr algn="l" marL="203200" indent="-203200">
              <a:lnSpc>
                <a:spcPct val="127000"/>
              </a:lnSpc>
              <a:buSzPct val="100000"/>
              <a:buChar char="•"/>
            </a:pPr>
            <a:r>
              <a:rPr lang="en-US" sz="10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F1 Score: harmonic summary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962775" y="1099765"/>
            <a:ext cx="1689795" cy="1840483"/>
          </a:xfrm>
          <a:prstGeom prst="roundRect">
            <a:avLst>
              <a:gd name="adj" fmla="val 6843"/>
            </a:avLst>
          </a:prstGeom>
          <a:solidFill>
            <a:srgbClr val="FFCCD1"/>
          </a:solidFill>
          <a:ln w="4763">
            <a:solidFill>
              <a:srgbClr val="E5B2B7"/>
            </a:solidFill>
            <a:prstDash val="solid"/>
          </a:ln>
          <a:effectLst>
            <a:outerShdw sx="100000" sy="100000" kx="0" ky="0" algn="bl" rotWithShape="0" blurRad="101600" dist="16510" dir="2700000">
              <a:srgbClr val="e5b2b7">
                <a:alpha val="10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095976" y="1232967"/>
            <a:ext cx="1423392" cy="401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Feature Importance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095976" y="1750740"/>
            <a:ext cx="1423392" cy="979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Bar visualization highlights symptom weights — used in explanations and clinician review.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156671" y="3056632"/>
            <a:ext cx="1689720" cy="1563142"/>
          </a:xfrm>
          <a:prstGeom prst="roundRect">
            <a:avLst>
              <a:gd name="adj" fmla="val 7397"/>
            </a:avLst>
          </a:prstGeom>
          <a:solidFill>
            <a:srgbClr val="FFCCD1"/>
          </a:solidFill>
          <a:ln w="4763">
            <a:solidFill>
              <a:srgbClr val="E5B2B7"/>
            </a:solidFill>
            <a:prstDash val="solid"/>
          </a:ln>
          <a:effectLst>
            <a:outerShdw sx="100000" sy="100000" kx="0" ky="0" algn="bl" rotWithShape="0" blurRad="101600" dist="16510" dir="2700000">
              <a:srgbClr val="e5b2b7">
                <a:alpha val="10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289872" y="3189833"/>
            <a:ext cx="1423318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Top Diseases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5289872" y="3506912"/>
            <a:ext cx="1423318" cy="783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Ranked by performance and prevalence; rare-disease performance flagged for review.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962775" y="3056632"/>
            <a:ext cx="1689795" cy="1563142"/>
          </a:xfrm>
          <a:prstGeom prst="roundRect">
            <a:avLst>
              <a:gd name="adj" fmla="val 7397"/>
            </a:avLst>
          </a:prstGeom>
          <a:solidFill>
            <a:srgbClr val="FFCCD1"/>
          </a:solidFill>
          <a:ln w="4763">
            <a:solidFill>
              <a:srgbClr val="E5B2B7"/>
            </a:solidFill>
            <a:prstDash val="solid"/>
          </a:ln>
          <a:effectLst>
            <a:outerShdw sx="100000" sy="100000" kx="0" ky="0" algn="bl" rotWithShape="0" blurRad="101600" dist="16510" dir="2700000">
              <a:srgbClr val="e5b2b7">
                <a:alpha val="10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7095976" y="3189833"/>
            <a:ext cx="1423392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Limitations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7095976" y="3506912"/>
            <a:ext cx="1423392" cy="979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Reduced reliability for very low-sample diseases — flagged and routed to clinician oversight.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0823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Deployment Architecture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9679" y="995437"/>
            <a:ext cx="8084567" cy="34862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73714" y="3820543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Results &amp; UI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073714" y="3013538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Inference API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073714" y="2214685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Train Model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73714" y="1407680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Explore Data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96119" y="4603700"/>
            <a:ext cx="8608963" cy="148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Cloud-native inference API, lightweight on-device cache for latency-sensitive triage, audit trails for regulatory compliance.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7686"/>
            <a:ext cx="8151763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Roadmap &amp; Next Steps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2448520" y="1124694"/>
            <a:ext cx="14288" cy="3470151"/>
          </a:xfrm>
          <a:prstGeom prst="roundRect">
            <a:avLst>
              <a:gd name="adj" fmla="val 809276"/>
            </a:avLst>
          </a:prstGeom>
          <a:solidFill>
            <a:srgbClr val="E5B2B7"/>
          </a:solidFill>
          <a:ln/>
        </p:spPr>
      </p:sp>
      <p:sp>
        <p:nvSpPr>
          <p:cNvPr id="4" name="Shape 2"/>
          <p:cNvSpPr/>
          <p:nvPr/>
        </p:nvSpPr>
        <p:spPr>
          <a:xfrm>
            <a:off x="1940049" y="1262063"/>
            <a:ext cx="385390" cy="14288"/>
          </a:xfrm>
          <a:prstGeom prst="roundRect">
            <a:avLst>
              <a:gd name="adj" fmla="val 809276"/>
            </a:avLst>
          </a:prstGeom>
          <a:solidFill>
            <a:srgbClr val="E5B2B7"/>
          </a:solidFill>
          <a:ln/>
        </p:spPr>
      </p:sp>
      <p:sp>
        <p:nvSpPr>
          <p:cNvPr id="5" name="Shape 3"/>
          <p:cNvSpPr/>
          <p:nvPr/>
        </p:nvSpPr>
        <p:spPr>
          <a:xfrm>
            <a:off x="2311152" y="1124694"/>
            <a:ext cx="289024" cy="289024"/>
          </a:xfrm>
          <a:prstGeom prst="roundRect">
            <a:avLst>
              <a:gd name="adj" fmla="val 40007"/>
            </a:avLst>
          </a:prstGeom>
          <a:solidFill>
            <a:srgbClr val="FFCCD1"/>
          </a:solidFill>
          <a:ln w="4763">
            <a:solidFill>
              <a:srgbClr val="E5B2B7"/>
            </a:solidFill>
            <a:prstDash val="solid"/>
          </a:ln>
          <a:effectLst>
            <a:outerShdw sx="100000" sy="100000" kx="0" ky="0" algn="bl" rotWithShape="0" blurRad="101600" dist="16510" dir="2700000">
              <a:srgbClr val="e5b2b7">
                <a:alpha val="10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359335" y="1148767"/>
            <a:ext cx="192658" cy="240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96119" y="1168822"/>
            <a:ext cx="1317203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Q3 — Validation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96119" y="1485900"/>
            <a:ext cx="1317203" cy="783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Clinical validation with hospital partners and retrospective case review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85889" y="2008808"/>
            <a:ext cx="385390" cy="14288"/>
          </a:xfrm>
          <a:prstGeom prst="roundRect">
            <a:avLst>
              <a:gd name="adj" fmla="val 809276"/>
            </a:avLst>
          </a:prstGeom>
          <a:solidFill>
            <a:srgbClr val="E5B2B7"/>
          </a:solidFill>
          <a:ln/>
        </p:spPr>
      </p:sp>
      <p:sp>
        <p:nvSpPr>
          <p:cNvPr id="10" name="Shape 8"/>
          <p:cNvSpPr/>
          <p:nvPr/>
        </p:nvSpPr>
        <p:spPr>
          <a:xfrm>
            <a:off x="2311152" y="1871439"/>
            <a:ext cx="289024" cy="289024"/>
          </a:xfrm>
          <a:prstGeom prst="roundRect">
            <a:avLst>
              <a:gd name="adj" fmla="val 40007"/>
            </a:avLst>
          </a:prstGeom>
          <a:solidFill>
            <a:srgbClr val="FFCCD1"/>
          </a:solidFill>
          <a:ln w="4763">
            <a:solidFill>
              <a:srgbClr val="E5B2B7"/>
            </a:solidFill>
            <a:prstDash val="solid"/>
          </a:ln>
          <a:effectLst>
            <a:outerShdw sx="100000" sy="100000" kx="0" ky="0" algn="bl" rotWithShape="0" blurRad="101600" dist="16510" dir="2700000">
              <a:srgbClr val="e5b2b7">
                <a:alpha val="10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359335" y="1895512"/>
            <a:ext cx="192658" cy="240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098006" y="1915567"/>
            <a:ext cx="1317278" cy="401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Q4 — Regulatory Prep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098006" y="2433340"/>
            <a:ext cx="1317278" cy="783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Documentation, explainability reports, and safety case development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940049" y="2798043"/>
            <a:ext cx="385390" cy="14288"/>
          </a:xfrm>
          <a:prstGeom prst="roundRect">
            <a:avLst>
              <a:gd name="adj" fmla="val 809276"/>
            </a:avLst>
          </a:prstGeom>
          <a:solidFill>
            <a:srgbClr val="E5B2B7"/>
          </a:solidFill>
          <a:ln/>
        </p:spPr>
      </p:sp>
      <p:sp>
        <p:nvSpPr>
          <p:cNvPr id="15" name="Shape 13"/>
          <p:cNvSpPr/>
          <p:nvPr/>
        </p:nvSpPr>
        <p:spPr>
          <a:xfrm>
            <a:off x="2311152" y="2660675"/>
            <a:ext cx="289024" cy="289024"/>
          </a:xfrm>
          <a:prstGeom prst="roundRect">
            <a:avLst>
              <a:gd name="adj" fmla="val 40007"/>
            </a:avLst>
          </a:prstGeom>
          <a:solidFill>
            <a:srgbClr val="FFCCD1"/>
          </a:solidFill>
          <a:ln w="4763">
            <a:solidFill>
              <a:srgbClr val="E5B2B7"/>
            </a:solidFill>
            <a:prstDash val="solid"/>
          </a:ln>
          <a:effectLst>
            <a:outerShdw sx="100000" sy="100000" kx="0" ky="0" algn="bl" rotWithShape="0" blurRad="101600" dist="16510" dir="2700000">
              <a:srgbClr val="e5b2b7">
                <a:alpha val="10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359335" y="2684748"/>
            <a:ext cx="192658" cy="240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96119" y="2704802"/>
            <a:ext cx="1317203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Q1 — Pilot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96119" y="3021881"/>
            <a:ext cx="1317203" cy="587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Live pilot in 2 clinics with clinician feedback loop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85889" y="3587279"/>
            <a:ext cx="385390" cy="14288"/>
          </a:xfrm>
          <a:prstGeom prst="roundRect">
            <a:avLst>
              <a:gd name="adj" fmla="val 809276"/>
            </a:avLst>
          </a:prstGeom>
          <a:solidFill>
            <a:srgbClr val="E5B2B7"/>
          </a:solidFill>
          <a:ln/>
        </p:spPr>
      </p:sp>
      <p:sp>
        <p:nvSpPr>
          <p:cNvPr id="20" name="Shape 18"/>
          <p:cNvSpPr/>
          <p:nvPr/>
        </p:nvSpPr>
        <p:spPr>
          <a:xfrm>
            <a:off x="2311152" y="3449910"/>
            <a:ext cx="289024" cy="289024"/>
          </a:xfrm>
          <a:prstGeom prst="roundRect">
            <a:avLst>
              <a:gd name="adj" fmla="val 40007"/>
            </a:avLst>
          </a:prstGeom>
          <a:solidFill>
            <a:srgbClr val="FFCCD1"/>
          </a:solidFill>
          <a:ln w="4763">
            <a:solidFill>
              <a:srgbClr val="E5B2B7"/>
            </a:solidFill>
            <a:prstDash val="solid"/>
          </a:ln>
          <a:effectLst>
            <a:outerShdw sx="100000" sy="100000" kx="0" ky="0" algn="bl" rotWithShape="0" blurRad="101600" dist="16510" dir="2700000">
              <a:srgbClr val="e5b2b7">
                <a:alpha val="10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359335" y="3473983"/>
            <a:ext cx="192658" cy="240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098006" y="3494038"/>
            <a:ext cx="1317278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Q2 — Scale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098006" y="3811116"/>
            <a:ext cx="1317278" cy="783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Optimization for larger deployments, model updates, and SDK release</a:t>
            </a:r>
            <a:endParaRPr lang="en-US" sz="100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33479" y="1351062"/>
            <a:ext cx="3919165" cy="2220813"/>
          </a:xfrm>
          <a:prstGeom prst="rect">
            <a:avLst/>
          </a:prstGeom>
        </p:spPr>
      </p:pic>
      <p:sp>
        <p:nvSpPr>
          <p:cNvPr id="25" name="Shape 22"/>
          <p:cNvSpPr/>
          <p:nvPr/>
        </p:nvSpPr>
        <p:spPr>
          <a:xfrm>
            <a:off x="4733479" y="3702844"/>
            <a:ext cx="3919165" cy="665559"/>
          </a:xfrm>
          <a:prstGeom prst="roundRect">
            <a:avLst>
              <a:gd name="adj" fmla="val 17373"/>
            </a:avLst>
          </a:prstGeom>
          <a:solidFill>
            <a:srgbClr val="FFCCD1"/>
          </a:solidFill>
          <a:ln/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1917" y="3893790"/>
            <a:ext cx="160586" cy="128439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5150941" y="3839691"/>
            <a:ext cx="3373264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Investor focus: measurable milestones, regulatory readiness, and clear pilot-to-scale pathway.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820987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Thank You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320677"/>
            <a:ext cx="4722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HealthConnect AI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3696519" y="2754734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"Making Disease Prediction Smarter, Faster, and Explainable."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696519" y="3141018"/>
            <a:ext cx="5179963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Contact: info@healthconnect.ai · Demo &amp; investor materials available on request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2026-07-09T13:48:21Z</dcterms:created>
  <dcterms:modified xsi:type="dcterms:W3CDTF">2026-07-09T13:48:21Z</dcterms:modified>
</cp:coreProperties>
</file>